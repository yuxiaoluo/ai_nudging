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64" r:id="rId3"/>
    <p:sldId id="265" r:id="rId4"/>
    <p:sldId id="266" r:id="rId5"/>
    <p:sldId id="257" r:id="rId6"/>
    <p:sldId id="258" r:id="rId7"/>
    <p:sldId id="261" r:id="rId8"/>
    <p:sldId id="260" r:id="rId9"/>
    <p:sldId id="263" r:id="rId10"/>
    <p:sldId id="262"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5809" autoAdjust="0"/>
  </p:normalViewPr>
  <p:slideViewPr>
    <p:cSldViewPr snapToGrid="0">
      <p:cViewPr varScale="1">
        <p:scale>
          <a:sx n="67" d="100"/>
          <a:sy n="67" d="100"/>
        </p:scale>
        <p:origin x="1026"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2DCBDD-FD4A-490C-8353-7F88756BDD0A}" type="datetimeFigureOut">
              <a:rPr lang="en-US" smtClean="0"/>
              <a:t>11/15/2025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3A74CC-075F-456B-B273-3D603B38D616}" type="slidenum">
              <a:rPr lang="en-US" smtClean="0"/>
              <a:t>‹#›</a:t>
            </a:fld>
            <a:endParaRPr lang="en-US"/>
          </a:p>
        </p:txBody>
      </p:sp>
    </p:spTree>
    <p:extLst>
      <p:ext uri="{BB962C8B-B14F-4D97-AF65-F5344CB8AC3E}">
        <p14:creationId xmlns:p14="http://schemas.microsoft.com/office/powerpoint/2010/main" val="41620775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E3A74CC-075F-456B-B273-3D603B38D616}" type="slidenum">
              <a:rPr lang="en-US" smtClean="0"/>
              <a:t>1</a:t>
            </a:fld>
            <a:endParaRPr lang="en-US"/>
          </a:p>
        </p:txBody>
      </p:sp>
    </p:spTree>
    <p:extLst>
      <p:ext uri="{BB962C8B-B14F-4D97-AF65-F5344CB8AC3E}">
        <p14:creationId xmlns:p14="http://schemas.microsoft.com/office/powerpoint/2010/main" val="17447997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4DEF2D-479B-C7ED-08E2-08D20FD9970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B402704-5125-6E59-F690-26C442AEA24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AC286DF-2181-CCE9-4791-9865AD7EF471}"/>
              </a:ext>
            </a:extLst>
          </p:cNvPr>
          <p:cNvSpPr>
            <a:spLocks noGrp="1"/>
          </p:cNvSpPr>
          <p:nvPr>
            <p:ph type="dt" sz="half" idx="10"/>
          </p:nvPr>
        </p:nvSpPr>
        <p:spPr/>
        <p:txBody>
          <a:bodyPr/>
          <a:lstStyle/>
          <a:p>
            <a:fld id="{559A5204-EEC7-4607-80A0-B403969703D4}" type="datetimeFigureOut">
              <a:rPr lang="en-US" smtClean="0"/>
              <a:t>11/15/2025</a:t>
            </a:fld>
            <a:endParaRPr lang="en-US"/>
          </a:p>
        </p:txBody>
      </p:sp>
      <p:sp>
        <p:nvSpPr>
          <p:cNvPr id="5" name="Footer Placeholder 4">
            <a:extLst>
              <a:ext uri="{FF2B5EF4-FFF2-40B4-BE49-F238E27FC236}">
                <a16:creationId xmlns:a16="http://schemas.microsoft.com/office/drawing/2014/main" id="{BE16FE14-E24E-44A9-A43E-972FB51481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BDD66A-0C53-38ED-1874-21F0A9EEF5F6}"/>
              </a:ext>
            </a:extLst>
          </p:cNvPr>
          <p:cNvSpPr>
            <a:spLocks noGrp="1"/>
          </p:cNvSpPr>
          <p:nvPr>
            <p:ph type="sldNum" sz="quarter" idx="12"/>
          </p:nvPr>
        </p:nvSpPr>
        <p:spPr/>
        <p:txBody>
          <a:bodyPr/>
          <a:lstStyle/>
          <a:p>
            <a:fld id="{5C496A3F-9DF7-4F23-A733-A3808EE663F6}" type="slidenum">
              <a:rPr lang="en-US" smtClean="0"/>
              <a:t>‹#›</a:t>
            </a:fld>
            <a:endParaRPr lang="en-US"/>
          </a:p>
        </p:txBody>
      </p:sp>
    </p:spTree>
    <p:extLst>
      <p:ext uri="{BB962C8B-B14F-4D97-AF65-F5344CB8AC3E}">
        <p14:creationId xmlns:p14="http://schemas.microsoft.com/office/powerpoint/2010/main" val="30520562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1B224-3562-825B-7612-066109EC2E2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8D87C6E-34B1-D43D-18DF-C18C1B7D4CA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B77ADE-B736-72DF-FB83-5F902A5A0511}"/>
              </a:ext>
            </a:extLst>
          </p:cNvPr>
          <p:cNvSpPr>
            <a:spLocks noGrp="1"/>
          </p:cNvSpPr>
          <p:nvPr>
            <p:ph type="dt" sz="half" idx="10"/>
          </p:nvPr>
        </p:nvSpPr>
        <p:spPr/>
        <p:txBody>
          <a:bodyPr/>
          <a:lstStyle/>
          <a:p>
            <a:fld id="{559A5204-EEC7-4607-80A0-B403969703D4}" type="datetimeFigureOut">
              <a:rPr lang="en-US" smtClean="0"/>
              <a:t>11/15/2025</a:t>
            </a:fld>
            <a:endParaRPr lang="en-US"/>
          </a:p>
        </p:txBody>
      </p:sp>
      <p:sp>
        <p:nvSpPr>
          <p:cNvPr id="5" name="Footer Placeholder 4">
            <a:extLst>
              <a:ext uri="{FF2B5EF4-FFF2-40B4-BE49-F238E27FC236}">
                <a16:creationId xmlns:a16="http://schemas.microsoft.com/office/drawing/2014/main" id="{35F80678-8D2E-3174-446F-22BBB55931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6B5713-3B7A-094D-2EA8-177A808FFB22}"/>
              </a:ext>
            </a:extLst>
          </p:cNvPr>
          <p:cNvSpPr>
            <a:spLocks noGrp="1"/>
          </p:cNvSpPr>
          <p:nvPr>
            <p:ph type="sldNum" sz="quarter" idx="12"/>
          </p:nvPr>
        </p:nvSpPr>
        <p:spPr/>
        <p:txBody>
          <a:bodyPr/>
          <a:lstStyle/>
          <a:p>
            <a:fld id="{5C496A3F-9DF7-4F23-A733-A3808EE663F6}" type="slidenum">
              <a:rPr lang="en-US" smtClean="0"/>
              <a:t>‹#›</a:t>
            </a:fld>
            <a:endParaRPr lang="en-US"/>
          </a:p>
        </p:txBody>
      </p:sp>
    </p:spTree>
    <p:extLst>
      <p:ext uri="{BB962C8B-B14F-4D97-AF65-F5344CB8AC3E}">
        <p14:creationId xmlns:p14="http://schemas.microsoft.com/office/powerpoint/2010/main" val="34374684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07513-05A7-E604-5416-002C71BDA3B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6849F21-31EE-079D-9753-79D603782E5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3C6C758-C7D9-AEFC-27E1-738DBE05FFF0}"/>
              </a:ext>
            </a:extLst>
          </p:cNvPr>
          <p:cNvSpPr>
            <a:spLocks noGrp="1"/>
          </p:cNvSpPr>
          <p:nvPr>
            <p:ph type="dt" sz="half" idx="10"/>
          </p:nvPr>
        </p:nvSpPr>
        <p:spPr/>
        <p:txBody>
          <a:bodyPr/>
          <a:lstStyle/>
          <a:p>
            <a:fld id="{559A5204-EEC7-4607-80A0-B403969703D4}" type="datetimeFigureOut">
              <a:rPr lang="en-US" smtClean="0"/>
              <a:t>11/15/2025</a:t>
            </a:fld>
            <a:endParaRPr lang="en-US"/>
          </a:p>
        </p:txBody>
      </p:sp>
      <p:sp>
        <p:nvSpPr>
          <p:cNvPr id="5" name="Footer Placeholder 4">
            <a:extLst>
              <a:ext uri="{FF2B5EF4-FFF2-40B4-BE49-F238E27FC236}">
                <a16:creationId xmlns:a16="http://schemas.microsoft.com/office/drawing/2014/main" id="{F64553E3-ABB5-6422-7406-4FD7515424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7B78AC-26FC-B505-F312-12C36B78FDB4}"/>
              </a:ext>
            </a:extLst>
          </p:cNvPr>
          <p:cNvSpPr>
            <a:spLocks noGrp="1"/>
          </p:cNvSpPr>
          <p:nvPr>
            <p:ph type="sldNum" sz="quarter" idx="12"/>
          </p:nvPr>
        </p:nvSpPr>
        <p:spPr/>
        <p:txBody>
          <a:bodyPr/>
          <a:lstStyle/>
          <a:p>
            <a:fld id="{5C496A3F-9DF7-4F23-A733-A3808EE663F6}" type="slidenum">
              <a:rPr lang="en-US" smtClean="0"/>
              <a:t>‹#›</a:t>
            </a:fld>
            <a:endParaRPr lang="en-US"/>
          </a:p>
        </p:txBody>
      </p:sp>
    </p:spTree>
    <p:extLst>
      <p:ext uri="{BB962C8B-B14F-4D97-AF65-F5344CB8AC3E}">
        <p14:creationId xmlns:p14="http://schemas.microsoft.com/office/powerpoint/2010/main" val="19147576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8372B-32D3-6294-CD7B-86D140C7911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E61EBA8-84BF-AEBC-99AC-B8BD9682430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559B4C5-B6CC-23B1-1E83-1AEA4FB193F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616B24F-653A-75FA-0BF0-23B975C81A5C}"/>
              </a:ext>
            </a:extLst>
          </p:cNvPr>
          <p:cNvSpPr>
            <a:spLocks noGrp="1"/>
          </p:cNvSpPr>
          <p:nvPr>
            <p:ph type="dt" sz="half" idx="10"/>
          </p:nvPr>
        </p:nvSpPr>
        <p:spPr/>
        <p:txBody>
          <a:bodyPr/>
          <a:lstStyle/>
          <a:p>
            <a:fld id="{559A5204-EEC7-4607-80A0-B403969703D4}" type="datetimeFigureOut">
              <a:rPr lang="en-US" smtClean="0"/>
              <a:t>11/15/2025</a:t>
            </a:fld>
            <a:endParaRPr lang="en-US"/>
          </a:p>
        </p:txBody>
      </p:sp>
      <p:sp>
        <p:nvSpPr>
          <p:cNvPr id="6" name="Footer Placeholder 5">
            <a:extLst>
              <a:ext uri="{FF2B5EF4-FFF2-40B4-BE49-F238E27FC236}">
                <a16:creationId xmlns:a16="http://schemas.microsoft.com/office/drawing/2014/main" id="{8E9ABC68-5A51-979E-8F05-2378E28A624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EAFD78B-82B0-6739-477D-30A1AAC446B4}"/>
              </a:ext>
            </a:extLst>
          </p:cNvPr>
          <p:cNvSpPr>
            <a:spLocks noGrp="1"/>
          </p:cNvSpPr>
          <p:nvPr>
            <p:ph type="sldNum" sz="quarter" idx="12"/>
          </p:nvPr>
        </p:nvSpPr>
        <p:spPr/>
        <p:txBody>
          <a:bodyPr/>
          <a:lstStyle/>
          <a:p>
            <a:fld id="{5C496A3F-9DF7-4F23-A733-A3808EE663F6}" type="slidenum">
              <a:rPr lang="en-US" smtClean="0"/>
              <a:t>‹#›</a:t>
            </a:fld>
            <a:endParaRPr lang="en-US"/>
          </a:p>
        </p:txBody>
      </p:sp>
    </p:spTree>
    <p:extLst>
      <p:ext uri="{BB962C8B-B14F-4D97-AF65-F5344CB8AC3E}">
        <p14:creationId xmlns:p14="http://schemas.microsoft.com/office/powerpoint/2010/main" val="5033788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44D3B-2D22-693B-A347-47B1E0C2E82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46ACFCF-C2E8-0BA7-801F-9468029AE0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8F49BD7-8015-D155-84F9-D9B8BF0F3B5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9F85A76-9F34-F824-A905-334FEE0333E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729273E-4B4D-3291-C8EF-695F9972ADF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158FE87-7D64-6192-5F22-D79031B4B51F}"/>
              </a:ext>
            </a:extLst>
          </p:cNvPr>
          <p:cNvSpPr>
            <a:spLocks noGrp="1"/>
          </p:cNvSpPr>
          <p:nvPr>
            <p:ph type="dt" sz="half" idx="10"/>
          </p:nvPr>
        </p:nvSpPr>
        <p:spPr/>
        <p:txBody>
          <a:bodyPr/>
          <a:lstStyle/>
          <a:p>
            <a:fld id="{559A5204-EEC7-4607-80A0-B403969703D4}" type="datetimeFigureOut">
              <a:rPr lang="en-US" smtClean="0"/>
              <a:t>11/15/2025</a:t>
            </a:fld>
            <a:endParaRPr lang="en-US"/>
          </a:p>
        </p:txBody>
      </p:sp>
      <p:sp>
        <p:nvSpPr>
          <p:cNvPr id="8" name="Footer Placeholder 7">
            <a:extLst>
              <a:ext uri="{FF2B5EF4-FFF2-40B4-BE49-F238E27FC236}">
                <a16:creationId xmlns:a16="http://schemas.microsoft.com/office/drawing/2014/main" id="{F0B58DB3-7373-A8BC-6AE5-B018AB3B8A5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454088-1D0C-D01E-4C9C-CCC0DA6C09F2}"/>
              </a:ext>
            </a:extLst>
          </p:cNvPr>
          <p:cNvSpPr>
            <a:spLocks noGrp="1"/>
          </p:cNvSpPr>
          <p:nvPr>
            <p:ph type="sldNum" sz="quarter" idx="12"/>
          </p:nvPr>
        </p:nvSpPr>
        <p:spPr/>
        <p:txBody>
          <a:bodyPr/>
          <a:lstStyle/>
          <a:p>
            <a:fld id="{5C496A3F-9DF7-4F23-A733-A3808EE663F6}" type="slidenum">
              <a:rPr lang="en-US" smtClean="0"/>
              <a:t>‹#›</a:t>
            </a:fld>
            <a:endParaRPr lang="en-US"/>
          </a:p>
        </p:txBody>
      </p:sp>
    </p:spTree>
    <p:extLst>
      <p:ext uri="{BB962C8B-B14F-4D97-AF65-F5344CB8AC3E}">
        <p14:creationId xmlns:p14="http://schemas.microsoft.com/office/powerpoint/2010/main" val="37302416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5FA5F-F834-58B0-0C74-3D8D2E46CD7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FA1E0ED-C81B-B488-C133-95218F9BE33C}"/>
              </a:ext>
            </a:extLst>
          </p:cNvPr>
          <p:cNvSpPr>
            <a:spLocks noGrp="1"/>
          </p:cNvSpPr>
          <p:nvPr>
            <p:ph type="dt" sz="half" idx="10"/>
          </p:nvPr>
        </p:nvSpPr>
        <p:spPr/>
        <p:txBody>
          <a:bodyPr/>
          <a:lstStyle/>
          <a:p>
            <a:fld id="{559A5204-EEC7-4607-80A0-B403969703D4}" type="datetimeFigureOut">
              <a:rPr lang="en-US" smtClean="0"/>
              <a:t>11/15/2025</a:t>
            </a:fld>
            <a:endParaRPr lang="en-US"/>
          </a:p>
        </p:txBody>
      </p:sp>
      <p:sp>
        <p:nvSpPr>
          <p:cNvPr id="4" name="Footer Placeholder 3">
            <a:extLst>
              <a:ext uri="{FF2B5EF4-FFF2-40B4-BE49-F238E27FC236}">
                <a16:creationId xmlns:a16="http://schemas.microsoft.com/office/drawing/2014/main" id="{6D968BDA-19AE-E6B6-A840-2F6BED7957B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834B8B5-A499-50D4-E849-C0B1DF81D897}"/>
              </a:ext>
            </a:extLst>
          </p:cNvPr>
          <p:cNvSpPr>
            <a:spLocks noGrp="1"/>
          </p:cNvSpPr>
          <p:nvPr>
            <p:ph type="sldNum" sz="quarter" idx="12"/>
          </p:nvPr>
        </p:nvSpPr>
        <p:spPr/>
        <p:txBody>
          <a:bodyPr/>
          <a:lstStyle/>
          <a:p>
            <a:fld id="{5C496A3F-9DF7-4F23-A733-A3808EE663F6}" type="slidenum">
              <a:rPr lang="en-US" smtClean="0"/>
              <a:t>‹#›</a:t>
            </a:fld>
            <a:endParaRPr lang="en-US"/>
          </a:p>
        </p:txBody>
      </p:sp>
    </p:spTree>
    <p:extLst>
      <p:ext uri="{BB962C8B-B14F-4D97-AF65-F5344CB8AC3E}">
        <p14:creationId xmlns:p14="http://schemas.microsoft.com/office/powerpoint/2010/main" val="30688896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876D853-EC6E-4DF0-9711-96DD72A9AF34}"/>
              </a:ext>
            </a:extLst>
          </p:cNvPr>
          <p:cNvSpPr>
            <a:spLocks noGrp="1"/>
          </p:cNvSpPr>
          <p:nvPr>
            <p:ph type="dt" sz="half" idx="10"/>
          </p:nvPr>
        </p:nvSpPr>
        <p:spPr/>
        <p:txBody>
          <a:bodyPr/>
          <a:lstStyle/>
          <a:p>
            <a:fld id="{559A5204-EEC7-4607-80A0-B403969703D4}" type="datetimeFigureOut">
              <a:rPr lang="en-US" smtClean="0"/>
              <a:t>11/15/2025</a:t>
            </a:fld>
            <a:endParaRPr lang="en-US"/>
          </a:p>
        </p:txBody>
      </p:sp>
      <p:sp>
        <p:nvSpPr>
          <p:cNvPr id="3" name="Footer Placeholder 2">
            <a:extLst>
              <a:ext uri="{FF2B5EF4-FFF2-40B4-BE49-F238E27FC236}">
                <a16:creationId xmlns:a16="http://schemas.microsoft.com/office/drawing/2014/main" id="{C839AA8D-A4A1-1AE6-D986-EC85050DF3C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A2D3A01-6283-C3CF-EAF7-05079EAD5515}"/>
              </a:ext>
            </a:extLst>
          </p:cNvPr>
          <p:cNvSpPr>
            <a:spLocks noGrp="1"/>
          </p:cNvSpPr>
          <p:nvPr>
            <p:ph type="sldNum" sz="quarter" idx="12"/>
          </p:nvPr>
        </p:nvSpPr>
        <p:spPr/>
        <p:txBody>
          <a:bodyPr/>
          <a:lstStyle/>
          <a:p>
            <a:fld id="{5C496A3F-9DF7-4F23-A733-A3808EE663F6}" type="slidenum">
              <a:rPr lang="en-US" smtClean="0"/>
              <a:t>‹#›</a:t>
            </a:fld>
            <a:endParaRPr lang="en-US"/>
          </a:p>
        </p:txBody>
      </p:sp>
    </p:spTree>
    <p:extLst>
      <p:ext uri="{BB962C8B-B14F-4D97-AF65-F5344CB8AC3E}">
        <p14:creationId xmlns:p14="http://schemas.microsoft.com/office/powerpoint/2010/main" val="25767750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ECB5E-2E4B-1C20-B008-A248A3CE2E9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A83B814-BA12-7E52-6B0E-D5F52347FE7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B0A1CA4-282F-7C31-6536-EA1DA39755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3752138-112E-16B2-CA51-A0C0C9A55021}"/>
              </a:ext>
            </a:extLst>
          </p:cNvPr>
          <p:cNvSpPr>
            <a:spLocks noGrp="1"/>
          </p:cNvSpPr>
          <p:nvPr>
            <p:ph type="dt" sz="half" idx="10"/>
          </p:nvPr>
        </p:nvSpPr>
        <p:spPr/>
        <p:txBody>
          <a:bodyPr/>
          <a:lstStyle/>
          <a:p>
            <a:fld id="{559A5204-EEC7-4607-80A0-B403969703D4}" type="datetimeFigureOut">
              <a:rPr lang="en-US" smtClean="0"/>
              <a:t>11/15/2025</a:t>
            </a:fld>
            <a:endParaRPr lang="en-US"/>
          </a:p>
        </p:txBody>
      </p:sp>
      <p:sp>
        <p:nvSpPr>
          <p:cNvPr id="6" name="Footer Placeholder 5">
            <a:extLst>
              <a:ext uri="{FF2B5EF4-FFF2-40B4-BE49-F238E27FC236}">
                <a16:creationId xmlns:a16="http://schemas.microsoft.com/office/drawing/2014/main" id="{8B791464-6881-EC09-1D3C-7659BEEBA03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506F39A-9444-32F3-EB5C-44557ABEEC95}"/>
              </a:ext>
            </a:extLst>
          </p:cNvPr>
          <p:cNvSpPr>
            <a:spLocks noGrp="1"/>
          </p:cNvSpPr>
          <p:nvPr>
            <p:ph type="sldNum" sz="quarter" idx="12"/>
          </p:nvPr>
        </p:nvSpPr>
        <p:spPr/>
        <p:txBody>
          <a:bodyPr/>
          <a:lstStyle/>
          <a:p>
            <a:fld id="{5C496A3F-9DF7-4F23-A733-A3808EE663F6}" type="slidenum">
              <a:rPr lang="en-US" smtClean="0"/>
              <a:t>‹#›</a:t>
            </a:fld>
            <a:endParaRPr lang="en-US"/>
          </a:p>
        </p:txBody>
      </p:sp>
    </p:spTree>
    <p:extLst>
      <p:ext uri="{BB962C8B-B14F-4D97-AF65-F5344CB8AC3E}">
        <p14:creationId xmlns:p14="http://schemas.microsoft.com/office/powerpoint/2010/main" val="17838451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B3687-A911-6161-2BE5-90C1A90101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F04BE44-7A07-D42E-B557-F5BE0223DF8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E57BE97-2928-F2A7-09D4-6FE98369C9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105BD78-4730-7C6D-8402-00CCA39A6799}"/>
              </a:ext>
            </a:extLst>
          </p:cNvPr>
          <p:cNvSpPr>
            <a:spLocks noGrp="1"/>
          </p:cNvSpPr>
          <p:nvPr>
            <p:ph type="dt" sz="half" idx="10"/>
          </p:nvPr>
        </p:nvSpPr>
        <p:spPr/>
        <p:txBody>
          <a:bodyPr/>
          <a:lstStyle/>
          <a:p>
            <a:fld id="{559A5204-EEC7-4607-80A0-B403969703D4}" type="datetimeFigureOut">
              <a:rPr lang="en-US" smtClean="0"/>
              <a:t>11/15/2025</a:t>
            </a:fld>
            <a:endParaRPr lang="en-US"/>
          </a:p>
        </p:txBody>
      </p:sp>
      <p:sp>
        <p:nvSpPr>
          <p:cNvPr id="6" name="Footer Placeholder 5">
            <a:extLst>
              <a:ext uri="{FF2B5EF4-FFF2-40B4-BE49-F238E27FC236}">
                <a16:creationId xmlns:a16="http://schemas.microsoft.com/office/drawing/2014/main" id="{14E9EF55-6258-47C7-B22B-36016D011DD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0FA0213-86AB-CAE0-7ED4-26B3AF50AF07}"/>
              </a:ext>
            </a:extLst>
          </p:cNvPr>
          <p:cNvSpPr>
            <a:spLocks noGrp="1"/>
          </p:cNvSpPr>
          <p:nvPr>
            <p:ph type="sldNum" sz="quarter" idx="12"/>
          </p:nvPr>
        </p:nvSpPr>
        <p:spPr/>
        <p:txBody>
          <a:bodyPr/>
          <a:lstStyle/>
          <a:p>
            <a:fld id="{5C496A3F-9DF7-4F23-A733-A3808EE663F6}" type="slidenum">
              <a:rPr lang="en-US" smtClean="0"/>
              <a:t>‹#›</a:t>
            </a:fld>
            <a:endParaRPr lang="en-US"/>
          </a:p>
        </p:txBody>
      </p:sp>
    </p:spTree>
    <p:extLst>
      <p:ext uri="{BB962C8B-B14F-4D97-AF65-F5344CB8AC3E}">
        <p14:creationId xmlns:p14="http://schemas.microsoft.com/office/powerpoint/2010/main" val="7845122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D4200-D936-FDD6-E211-776136B1B25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6753557-85FC-548E-475E-FA89BBFC5CF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2CF462-3D07-88CB-A3B2-8C72F16CFAB6}"/>
              </a:ext>
            </a:extLst>
          </p:cNvPr>
          <p:cNvSpPr>
            <a:spLocks noGrp="1"/>
          </p:cNvSpPr>
          <p:nvPr>
            <p:ph type="dt" sz="half" idx="10"/>
          </p:nvPr>
        </p:nvSpPr>
        <p:spPr/>
        <p:txBody>
          <a:bodyPr/>
          <a:lstStyle/>
          <a:p>
            <a:fld id="{559A5204-EEC7-4607-80A0-B403969703D4}" type="datetimeFigureOut">
              <a:rPr lang="en-US" smtClean="0"/>
              <a:t>11/15/2025</a:t>
            </a:fld>
            <a:endParaRPr lang="en-US"/>
          </a:p>
        </p:txBody>
      </p:sp>
      <p:sp>
        <p:nvSpPr>
          <p:cNvPr id="5" name="Footer Placeholder 4">
            <a:extLst>
              <a:ext uri="{FF2B5EF4-FFF2-40B4-BE49-F238E27FC236}">
                <a16:creationId xmlns:a16="http://schemas.microsoft.com/office/drawing/2014/main" id="{C8812E70-AA78-D682-5256-21B9EB07B3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373422-2980-5ADE-2E43-6F73253565AA}"/>
              </a:ext>
            </a:extLst>
          </p:cNvPr>
          <p:cNvSpPr>
            <a:spLocks noGrp="1"/>
          </p:cNvSpPr>
          <p:nvPr>
            <p:ph type="sldNum" sz="quarter" idx="12"/>
          </p:nvPr>
        </p:nvSpPr>
        <p:spPr/>
        <p:txBody>
          <a:bodyPr/>
          <a:lstStyle/>
          <a:p>
            <a:fld id="{5C496A3F-9DF7-4F23-A733-A3808EE663F6}" type="slidenum">
              <a:rPr lang="en-US" smtClean="0"/>
              <a:t>‹#›</a:t>
            </a:fld>
            <a:endParaRPr lang="en-US"/>
          </a:p>
        </p:txBody>
      </p:sp>
    </p:spTree>
    <p:extLst>
      <p:ext uri="{BB962C8B-B14F-4D97-AF65-F5344CB8AC3E}">
        <p14:creationId xmlns:p14="http://schemas.microsoft.com/office/powerpoint/2010/main" val="36528650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B93305C-84C2-8580-1E13-BB539618113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0607D91-0017-957F-335D-90819B6BF47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09ED00-8458-48BD-1575-68424DA91F3F}"/>
              </a:ext>
            </a:extLst>
          </p:cNvPr>
          <p:cNvSpPr>
            <a:spLocks noGrp="1"/>
          </p:cNvSpPr>
          <p:nvPr>
            <p:ph type="dt" sz="half" idx="10"/>
          </p:nvPr>
        </p:nvSpPr>
        <p:spPr/>
        <p:txBody>
          <a:bodyPr/>
          <a:lstStyle/>
          <a:p>
            <a:fld id="{559A5204-EEC7-4607-80A0-B403969703D4}" type="datetimeFigureOut">
              <a:rPr lang="en-US" smtClean="0"/>
              <a:t>11/15/2025</a:t>
            </a:fld>
            <a:endParaRPr lang="en-US"/>
          </a:p>
        </p:txBody>
      </p:sp>
      <p:sp>
        <p:nvSpPr>
          <p:cNvPr id="5" name="Footer Placeholder 4">
            <a:extLst>
              <a:ext uri="{FF2B5EF4-FFF2-40B4-BE49-F238E27FC236}">
                <a16:creationId xmlns:a16="http://schemas.microsoft.com/office/drawing/2014/main" id="{D73F9836-A9DE-83C5-281C-54AA2BA25A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573D63-81D5-3708-395A-7E2AC2DDF505}"/>
              </a:ext>
            </a:extLst>
          </p:cNvPr>
          <p:cNvSpPr>
            <a:spLocks noGrp="1"/>
          </p:cNvSpPr>
          <p:nvPr>
            <p:ph type="sldNum" sz="quarter" idx="12"/>
          </p:nvPr>
        </p:nvSpPr>
        <p:spPr/>
        <p:txBody>
          <a:bodyPr/>
          <a:lstStyle/>
          <a:p>
            <a:fld id="{5C496A3F-9DF7-4F23-A733-A3808EE663F6}" type="slidenum">
              <a:rPr lang="en-US" smtClean="0"/>
              <a:t>‹#›</a:t>
            </a:fld>
            <a:endParaRPr lang="en-US"/>
          </a:p>
        </p:txBody>
      </p:sp>
    </p:spTree>
    <p:extLst>
      <p:ext uri="{BB962C8B-B14F-4D97-AF65-F5344CB8AC3E}">
        <p14:creationId xmlns:p14="http://schemas.microsoft.com/office/powerpoint/2010/main" val="14283256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841975A-19E2-2ECF-BE0B-6A1B921F8B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76C0A2B-4C54-01A8-894E-428270FE151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4AB728-813F-49F6-3AF7-917D77D6B30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59A5204-EEC7-4607-80A0-B403969703D4}" type="datetimeFigureOut">
              <a:rPr lang="en-US" smtClean="0"/>
              <a:t>11/15/2025</a:t>
            </a:fld>
            <a:endParaRPr lang="en-US"/>
          </a:p>
        </p:txBody>
      </p:sp>
      <p:sp>
        <p:nvSpPr>
          <p:cNvPr id="5" name="Footer Placeholder 4">
            <a:extLst>
              <a:ext uri="{FF2B5EF4-FFF2-40B4-BE49-F238E27FC236}">
                <a16:creationId xmlns:a16="http://schemas.microsoft.com/office/drawing/2014/main" id="{1E885825-3271-B9EB-64EE-1AA5EC2CFB6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E8A2BC3-3EDD-62F7-E125-1C69E7AD474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C496A3F-9DF7-4F23-A733-A3808EE663F6}" type="slidenum">
              <a:rPr lang="en-US" smtClean="0"/>
              <a:t>‹#›</a:t>
            </a:fld>
            <a:endParaRPr lang="en-US"/>
          </a:p>
        </p:txBody>
      </p:sp>
    </p:spTree>
    <p:extLst>
      <p:ext uri="{BB962C8B-B14F-4D97-AF65-F5344CB8AC3E}">
        <p14:creationId xmlns:p14="http://schemas.microsoft.com/office/powerpoint/2010/main" val="9235636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3C73C-6B02-0D9B-647E-0245680FFB21}"/>
              </a:ext>
            </a:extLst>
          </p:cNvPr>
          <p:cNvSpPr>
            <a:spLocks noGrp="1"/>
          </p:cNvSpPr>
          <p:nvPr>
            <p:ph type="ctrTitle"/>
          </p:nvPr>
        </p:nvSpPr>
        <p:spPr/>
        <p:txBody>
          <a:bodyPr>
            <a:normAutofit fontScale="90000"/>
          </a:bodyPr>
          <a:lstStyle/>
          <a:p>
            <a:r>
              <a:rPr lang="en-US" dirty="0"/>
              <a:t>Talking Shoppers Into Buying? Experimental Evidence on LLM-Driven AI Nudges</a:t>
            </a:r>
          </a:p>
        </p:txBody>
      </p:sp>
      <p:sp>
        <p:nvSpPr>
          <p:cNvPr id="3" name="Subtitle 2">
            <a:extLst>
              <a:ext uri="{FF2B5EF4-FFF2-40B4-BE49-F238E27FC236}">
                <a16:creationId xmlns:a16="http://schemas.microsoft.com/office/drawing/2014/main" id="{89238692-D2C3-C693-6C15-3E2A6CCCAD15}"/>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9632804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B668D-A208-7E6E-943D-46E17C7F1D30}"/>
              </a:ext>
            </a:extLst>
          </p:cNvPr>
          <p:cNvSpPr>
            <a:spLocks noGrp="1"/>
          </p:cNvSpPr>
          <p:nvPr>
            <p:ph type="title"/>
          </p:nvPr>
        </p:nvSpPr>
        <p:spPr/>
        <p:txBody>
          <a:bodyPr/>
          <a:lstStyle/>
          <a:p>
            <a:r>
              <a:rPr lang="en-US" dirty="0"/>
              <a:t>Titles</a:t>
            </a:r>
          </a:p>
        </p:txBody>
      </p:sp>
      <p:sp>
        <p:nvSpPr>
          <p:cNvPr id="3" name="Content Placeholder 2">
            <a:extLst>
              <a:ext uri="{FF2B5EF4-FFF2-40B4-BE49-F238E27FC236}">
                <a16:creationId xmlns:a16="http://schemas.microsoft.com/office/drawing/2014/main" id="{43B645D5-620F-1159-3F31-D84FE6A327B2}"/>
              </a:ext>
            </a:extLst>
          </p:cNvPr>
          <p:cNvSpPr>
            <a:spLocks noGrp="1"/>
          </p:cNvSpPr>
          <p:nvPr>
            <p:ph idx="1"/>
          </p:nvPr>
        </p:nvSpPr>
        <p:spPr/>
        <p:txBody>
          <a:bodyPr>
            <a:normAutofit fontScale="55000" lnSpcReduction="20000"/>
          </a:bodyPr>
          <a:lstStyle/>
          <a:p>
            <a:r>
              <a:rPr lang="en-US" b="1" dirty="0"/>
              <a:t>Top Picks</a:t>
            </a:r>
          </a:p>
          <a:p>
            <a:r>
              <a:rPr lang="en-US" b="1" dirty="0"/>
              <a:t>"When the Chatbot Nudges: How LLM Conversations Reshape Online Purchase Decisions"</a:t>
            </a:r>
            <a:endParaRPr lang="en-US" dirty="0"/>
          </a:p>
          <a:p>
            <a:r>
              <a:rPr lang="en-US" b="1" dirty="0"/>
              <a:t>"From Badges to Bots: The Power of LLM-Based Conversational Nudges in E-Commerce"</a:t>
            </a:r>
            <a:endParaRPr lang="en-US" dirty="0"/>
          </a:p>
          <a:p>
            <a:r>
              <a:rPr lang="en-US" b="1" dirty="0"/>
              <a:t>"The Conversational Nudge Effect: LLMs vs. Traditional UI in Online Decision-Making"</a:t>
            </a:r>
            <a:endParaRPr lang="en-US" dirty="0"/>
          </a:p>
          <a:p>
            <a:r>
              <a:rPr lang="en-US" b="1" dirty="0"/>
              <a:t>"Talking Shoppers Into Buying? Experimental Evidence on LLM-Driven AI Nudges"</a:t>
            </a:r>
            <a:endParaRPr lang="en-US" dirty="0"/>
          </a:p>
          <a:p>
            <a:r>
              <a:rPr lang="en-US" b="1" dirty="0"/>
              <a:t>"Beyond the Buy Box: How AI Conversations Influence Consumer Choices"</a:t>
            </a:r>
            <a:endParaRPr lang="en-US" dirty="0"/>
          </a:p>
          <a:p>
            <a:r>
              <a:rPr lang="en-US" b="1" dirty="0"/>
              <a:t>More Creative &amp; Compelling</a:t>
            </a:r>
          </a:p>
          <a:p>
            <a:r>
              <a:rPr lang="en-US" b="1" dirty="0"/>
              <a:t>"Whispers of the Algorithm: The Hidden Influence of LLM Nudges in E-Commerce"</a:t>
            </a:r>
            <a:endParaRPr lang="en-US" dirty="0"/>
          </a:p>
          <a:p>
            <a:r>
              <a:rPr lang="en-US" b="1" dirty="0"/>
              <a:t>"When the Assistant Decides: The Behavioral Impact of LLM Shopping Guidance"</a:t>
            </a:r>
            <a:endParaRPr lang="en-US" dirty="0"/>
          </a:p>
          <a:p>
            <a:r>
              <a:rPr lang="en-US" b="1" dirty="0"/>
              <a:t>"The Persuasive Chatbot: Conversational AI as a New Digital Nudge"</a:t>
            </a:r>
            <a:endParaRPr lang="en-US" dirty="0"/>
          </a:p>
          <a:p>
            <a:r>
              <a:rPr lang="en-US" b="1" dirty="0"/>
              <a:t>"Recommendation by Conversation: Rethinking Choice Architecture in LLM-Mediated Shopping"</a:t>
            </a:r>
            <a:endParaRPr lang="en-US" dirty="0"/>
          </a:p>
          <a:p>
            <a:r>
              <a:rPr lang="en-US" b="1" dirty="0"/>
              <a:t>More Formal / Journal-Friendly</a:t>
            </a:r>
          </a:p>
          <a:p>
            <a:r>
              <a:rPr lang="en-US" b="1" dirty="0"/>
              <a:t>"Comparing LLM-Based Conversational Nudges and UI Nudges: Evidence from a Randomized Experiment"</a:t>
            </a:r>
            <a:endParaRPr lang="en-US" dirty="0"/>
          </a:p>
          <a:p>
            <a:r>
              <a:rPr lang="en-US" b="1" dirty="0"/>
              <a:t>"Conversational Commerce and AI Nudging: Impacts on Transparency, Confidence, and Decision Quality"</a:t>
            </a:r>
            <a:endParaRPr lang="en-US" dirty="0"/>
          </a:p>
          <a:p>
            <a:r>
              <a:rPr lang="en-US" b="1" dirty="0"/>
              <a:t>"Algorithmic Dialogue as Choice Architecture: An Empirical Study of LLM Nudging Effects"</a:t>
            </a:r>
            <a:endParaRPr lang="en-US" dirty="0"/>
          </a:p>
          <a:p>
            <a:endParaRPr lang="en-US" dirty="0"/>
          </a:p>
        </p:txBody>
      </p:sp>
    </p:spTree>
    <p:extLst>
      <p:ext uri="{BB962C8B-B14F-4D97-AF65-F5344CB8AC3E}">
        <p14:creationId xmlns:p14="http://schemas.microsoft.com/office/powerpoint/2010/main" val="5415648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76DDD-A097-07C8-AFBA-0F6CC01BA507}"/>
              </a:ext>
            </a:extLst>
          </p:cNvPr>
          <p:cNvSpPr>
            <a:spLocks noGrp="1"/>
          </p:cNvSpPr>
          <p:nvPr>
            <p:ph type="title"/>
          </p:nvPr>
        </p:nvSpPr>
        <p:spPr/>
        <p:txBody>
          <a:bodyPr/>
          <a:lstStyle/>
          <a:p>
            <a:r>
              <a:rPr lang="en-US" dirty="0"/>
              <a:t>Abstract</a:t>
            </a:r>
          </a:p>
        </p:txBody>
      </p:sp>
      <p:sp>
        <p:nvSpPr>
          <p:cNvPr id="3" name="Content Placeholder 2">
            <a:extLst>
              <a:ext uri="{FF2B5EF4-FFF2-40B4-BE49-F238E27FC236}">
                <a16:creationId xmlns:a16="http://schemas.microsoft.com/office/drawing/2014/main" id="{EE4E58C1-C791-C825-1D50-C7D5BEC55DB8}"/>
              </a:ext>
            </a:extLst>
          </p:cNvPr>
          <p:cNvSpPr>
            <a:spLocks noGrp="1"/>
          </p:cNvSpPr>
          <p:nvPr>
            <p:ph idx="1"/>
          </p:nvPr>
        </p:nvSpPr>
        <p:spPr>
          <a:xfrm>
            <a:off x="544115" y="1488280"/>
            <a:ext cx="11103769" cy="5069682"/>
          </a:xfrm>
        </p:spPr>
        <p:txBody>
          <a:bodyPr>
            <a:normAutofit fontScale="62500" lnSpcReduction="20000"/>
          </a:bodyPr>
          <a:lstStyle/>
          <a:p>
            <a:pPr marL="0" indent="0" algn="just">
              <a:lnSpc>
                <a:spcPct val="120000"/>
              </a:lnSpc>
              <a:buNone/>
            </a:pPr>
            <a:r>
              <a:rPr lang="en-US" dirty="0">
                <a:latin typeface="Garamond" panose="02020404030301010803" pitchFamily="18" charset="0"/>
              </a:rPr>
              <a:t>The rapid integration of large language models (LLMs) into online shopping platforms has transformed how consumers search, evaluate, and select products. Unlike traditional digital nudges (i.e., recommendation badges), LLM-based conversational assistants introduce a new form of interactive, adaptive, and opaque AI nudging that may fundamentally reshape consumer decision processes. Building on research in AI nudging, recommendation agent, and conversational commerce, this study investigates how conversational recommendations from an LLM influence consumers’ purchase decisions relative to conventional UI-based nudges. We theorize that LLM-generated conversational guidance alters perceived transparency, choice confidence, cognitive load, and trust in the recommendation mechanism, thereby affecting decision quality and purchase likelihood. To test these predictions, we conducted a randomized experiment in which participants completed a simulated online shopping task under one of three conditions: (1) LLM-based conversational nudging, (2) traditional UI-based nudging (e.g., Amazon-style recommendation badges), or (3) a control condition. Following the shopping task, participants completed a post-task survey assessing perceptions of transparency, cognitive effort, confidence, and satisfaction. Our findings show that conversational AI nudges significantly shift consumer preferences and increase purchase likelihood, but also elevate perceived personalization and reduce cognitive load compared to UI-based nudges. However, lower transparency perceptions associated with LLM nudging moderated these effects, suggesting a complex trade-off between decision support and algorithmic opacity. This study offers the first empirical evidence on how LLM-driven conversational nudges compare with traditional digital nudges in shaping online purchase behavior, contributing to research on AI nudging, human–AI interaction, and the design of responsible conversational commerce systems.</a:t>
            </a:r>
          </a:p>
        </p:txBody>
      </p:sp>
    </p:spTree>
    <p:extLst>
      <p:ext uri="{BB962C8B-B14F-4D97-AF65-F5344CB8AC3E}">
        <p14:creationId xmlns:p14="http://schemas.microsoft.com/office/powerpoint/2010/main" val="22091069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8DBC2-028F-220E-40BA-6A7806061C27}"/>
              </a:ext>
            </a:extLst>
          </p:cNvPr>
          <p:cNvSpPr>
            <a:spLocks noGrp="1"/>
          </p:cNvSpPr>
          <p:nvPr>
            <p:ph type="title"/>
          </p:nvPr>
        </p:nvSpPr>
        <p:spPr/>
        <p:txBody>
          <a:bodyPr/>
          <a:lstStyle/>
          <a:p>
            <a:r>
              <a:rPr lang="en-US" dirty="0"/>
              <a:t>Short Abstract</a:t>
            </a:r>
          </a:p>
        </p:txBody>
      </p:sp>
      <p:sp>
        <p:nvSpPr>
          <p:cNvPr id="3" name="Content Placeholder 2">
            <a:extLst>
              <a:ext uri="{FF2B5EF4-FFF2-40B4-BE49-F238E27FC236}">
                <a16:creationId xmlns:a16="http://schemas.microsoft.com/office/drawing/2014/main" id="{0D2D5384-71D6-98B3-B888-C52717DB03B9}"/>
              </a:ext>
            </a:extLst>
          </p:cNvPr>
          <p:cNvSpPr>
            <a:spLocks noGrp="1"/>
          </p:cNvSpPr>
          <p:nvPr>
            <p:ph idx="1"/>
          </p:nvPr>
        </p:nvSpPr>
        <p:spPr/>
        <p:txBody>
          <a:bodyPr/>
          <a:lstStyle/>
          <a:p>
            <a:r>
              <a:rPr lang="en-US" dirty="0"/>
              <a:t>The rapid integration of LLMs into online shopping platforms has transformed how consumers purchase products. Unlike traditional digital nudges, LLM-based conversational assistants introduce a new form of interactive AI nudging that fundamentally reshapes consumer experiences. This study aims to unveil the impact of LLM-based AI nudges on purchase decision-making.</a:t>
            </a:r>
          </a:p>
        </p:txBody>
      </p:sp>
    </p:spTree>
    <p:extLst>
      <p:ext uri="{BB962C8B-B14F-4D97-AF65-F5344CB8AC3E}">
        <p14:creationId xmlns:p14="http://schemas.microsoft.com/office/powerpoint/2010/main" val="36069269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55CC7-EEB9-EC11-8C15-39871601480A}"/>
              </a:ext>
            </a:extLst>
          </p:cNvPr>
          <p:cNvSpPr>
            <a:spLocks noGrp="1"/>
          </p:cNvSpPr>
          <p:nvPr>
            <p:ph type="title"/>
          </p:nvPr>
        </p:nvSpPr>
        <p:spPr/>
        <p:txBody>
          <a:bodyPr/>
          <a:lstStyle/>
          <a:p>
            <a:r>
              <a:rPr lang="en-US" dirty="0"/>
              <a:t>Definition of AI nudges</a:t>
            </a:r>
          </a:p>
        </p:txBody>
      </p:sp>
      <p:sp>
        <p:nvSpPr>
          <p:cNvPr id="3" name="Content Placeholder 2">
            <a:extLst>
              <a:ext uri="{FF2B5EF4-FFF2-40B4-BE49-F238E27FC236}">
                <a16:creationId xmlns:a16="http://schemas.microsoft.com/office/drawing/2014/main" id="{2BE35B0D-0156-8240-14F6-370729B49929}"/>
              </a:ext>
            </a:extLst>
          </p:cNvPr>
          <p:cNvSpPr>
            <a:spLocks noGrp="1"/>
          </p:cNvSpPr>
          <p:nvPr>
            <p:ph idx="1"/>
          </p:nvPr>
        </p:nvSpPr>
        <p:spPr/>
        <p:txBody>
          <a:bodyPr>
            <a:normAutofit fontScale="92500"/>
          </a:bodyPr>
          <a:lstStyle/>
          <a:p>
            <a:r>
              <a:rPr lang="en-US" dirty="0"/>
              <a:t>Luo et al. (2026) defines AI nudges as nudges whose implementation and deployment are delegated to AI/ML algorithms, where the mechanism of how the nudge is generated is opaque, algorithmically driven, and not fully </a:t>
            </a:r>
            <a:r>
              <a:rPr lang="en-US" dirty="0" err="1"/>
              <a:t>reconstructible</a:t>
            </a:r>
            <a:r>
              <a:rPr lang="en-US" dirty="0"/>
              <a:t> by users. </a:t>
            </a:r>
          </a:p>
          <a:p>
            <a:pPr lvl="1"/>
            <a:r>
              <a:rPr lang="en-US" dirty="0"/>
              <a:t>This contrasts with non-AI nudges, whose mechanisms are transparent and easily understood (e.g., “Best Seller”).</a:t>
            </a:r>
          </a:p>
          <a:p>
            <a:pPr lvl="1"/>
            <a:r>
              <a:rPr lang="en-US" dirty="0"/>
              <a:t>This conceptualization is explicitly grounded in the article’s discussion of AI nudges as recommendation cues whose generation factors are undisclosed and unpredictable due to the black-box nature of the algorithm</a:t>
            </a:r>
          </a:p>
          <a:p>
            <a:pPr lvl="1"/>
            <a:r>
              <a:rPr lang="en-US" dirty="0"/>
              <a:t>More broadly, a nudge whose generation, timing, and deployment are delegated to AI/ML systems, such that the mechanism is opaque, dynamic, and algorithmically determined.</a:t>
            </a:r>
          </a:p>
        </p:txBody>
      </p:sp>
    </p:spTree>
    <p:extLst>
      <p:ext uri="{BB962C8B-B14F-4D97-AF65-F5344CB8AC3E}">
        <p14:creationId xmlns:p14="http://schemas.microsoft.com/office/powerpoint/2010/main" val="16745232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DE427-B672-C9B5-2B55-F7C02F15A93E}"/>
              </a:ext>
            </a:extLst>
          </p:cNvPr>
          <p:cNvSpPr>
            <a:spLocks noGrp="1"/>
          </p:cNvSpPr>
          <p:nvPr>
            <p:ph type="title"/>
          </p:nvPr>
        </p:nvSpPr>
        <p:spPr/>
        <p:txBody>
          <a:bodyPr/>
          <a:lstStyle/>
          <a:p>
            <a:r>
              <a:rPr lang="en-US" dirty="0"/>
              <a:t>Other types of AI nudges</a:t>
            </a:r>
          </a:p>
        </p:txBody>
      </p:sp>
      <p:sp>
        <p:nvSpPr>
          <p:cNvPr id="3" name="Content Placeholder 2">
            <a:extLst>
              <a:ext uri="{FF2B5EF4-FFF2-40B4-BE49-F238E27FC236}">
                <a16:creationId xmlns:a16="http://schemas.microsoft.com/office/drawing/2014/main" id="{9584CEDF-1227-E525-DDE5-47FB486827AA}"/>
              </a:ext>
            </a:extLst>
          </p:cNvPr>
          <p:cNvSpPr>
            <a:spLocks noGrp="1"/>
          </p:cNvSpPr>
          <p:nvPr>
            <p:ph idx="1"/>
          </p:nvPr>
        </p:nvSpPr>
        <p:spPr/>
        <p:txBody>
          <a:bodyPr>
            <a:normAutofit lnSpcReduction="10000"/>
          </a:bodyPr>
          <a:lstStyle/>
          <a:p>
            <a:pPr marL="514350" indent="-514350">
              <a:buFont typeface="+mj-lt"/>
              <a:buAutoNum type="arabicPeriod"/>
            </a:pPr>
            <a:r>
              <a:rPr lang="en-US" dirty="0"/>
              <a:t>AI-Driven Personalized Warning or Alert Messages</a:t>
            </a:r>
          </a:p>
          <a:p>
            <a:pPr marL="914400" lvl="1" indent="-457200">
              <a:buFont typeface="+mj-lt"/>
              <a:buAutoNum type="alphaLcParenR"/>
            </a:pPr>
            <a:r>
              <a:rPr lang="en-US" dirty="0"/>
              <a:t>“You may regret this purchase”</a:t>
            </a:r>
          </a:p>
          <a:p>
            <a:pPr marL="914400" lvl="1" indent="-457200">
              <a:buFont typeface="+mj-lt"/>
              <a:buAutoNum type="alphaLcParenR"/>
            </a:pPr>
            <a:r>
              <a:rPr lang="en-US" dirty="0"/>
              <a:t>“This product often gets returned by customers similar to you”</a:t>
            </a:r>
          </a:p>
          <a:p>
            <a:pPr marL="914400" lvl="1" indent="-457200">
              <a:buFont typeface="+mj-lt"/>
              <a:buAutoNum type="alphaLcParenR"/>
            </a:pPr>
            <a:r>
              <a:rPr lang="en-US" dirty="0"/>
              <a:t>Spending alerts triggered by behavioral predictions</a:t>
            </a:r>
          </a:p>
          <a:p>
            <a:pPr marL="914400" lvl="1" indent="-457200">
              <a:buFont typeface="+mj-lt"/>
              <a:buAutoNum type="alphaLcParenR"/>
            </a:pPr>
            <a:r>
              <a:rPr lang="en-US" dirty="0"/>
              <a:t>If an algorithm determines when such alerts appear, the nudge is delegated to AI.</a:t>
            </a:r>
          </a:p>
          <a:p>
            <a:pPr marL="457200" indent="-457200">
              <a:buFont typeface="+mj-lt"/>
              <a:buAutoNum type="arabicPeriod"/>
            </a:pPr>
            <a:r>
              <a:rPr lang="en-US" dirty="0"/>
              <a:t>Algorithmic Content Highlighting or Boosting</a:t>
            </a:r>
          </a:p>
          <a:p>
            <a:pPr marL="914400" lvl="1" indent="-457200">
              <a:buFont typeface="+mj-lt"/>
              <a:buAutoNum type="alphaLcParenR"/>
            </a:pPr>
            <a:r>
              <a:rPr lang="en-US" dirty="0"/>
              <a:t>“Important email” labels</a:t>
            </a:r>
          </a:p>
          <a:p>
            <a:pPr marL="914400" lvl="1" indent="-457200">
              <a:buFont typeface="+mj-lt"/>
              <a:buAutoNum type="alphaLcParenR"/>
            </a:pPr>
            <a:r>
              <a:rPr lang="en-US" dirty="0"/>
              <a:t>“Top news stories for you”</a:t>
            </a:r>
          </a:p>
          <a:p>
            <a:pPr marL="914400" lvl="1" indent="-457200">
              <a:buFont typeface="+mj-lt"/>
              <a:buAutoNum type="alphaLcParenR"/>
            </a:pPr>
            <a:r>
              <a:rPr lang="en-US" dirty="0"/>
              <a:t>Prioritized feed items on social media</a:t>
            </a:r>
          </a:p>
          <a:p>
            <a:pPr marL="914400" lvl="1" indent="-457200">
              <a:buFont typeface="+mj-lt"/>
              <a:buAutoNum type="alphaLcParenR"/>
            </a:pPr>
            <a:r>
              <a:rPr lang="en-US" dirty="0"/>
              <a:t>Because these placements are machine-determined and opaque, they come with hidden deployment mechanism.</a:t>
            </a:r>
          </a:p>
          <a:p>
            <a:endParaRPr lang="en-US" dirty="0"/>
          </a:p>
          <a:p>
            <a:pPr lvl="1"/>
            <a:endParaRPr lang="en-US" dirty="0"/>
          </a:p>
        </p:txBody>
      </p:sp>
    </p:spTree>
    <p:extLst>
      <p:ext uri="{BB962C8B-B14F-4D97-AF65-F5344CB8AC3E}">
        <p14:creationId xmlns:p14="http://schemas.microsoft.com/office/powerpoint/2010/main" val="21639034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D4229-2E9C-F468-DC19-4D2A1904BC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A52BEE-EEED-B0C3-A1CE-103BBE61CEED}"/>
              </a:ext>
            </a:extLst>
          </p:cNvPr>
          <p:cNvSpPr>
            <a:spLocks noGrp="1"/>
          </p:cNvSpPr>
          <p:nvPr>
            <p:ph type="title"/>
          </p:nvPr>
        </p:nvSpPr>
        <p:spPr/>
        <p:txBody>
          <a:bodyPr/>
          <a:lstStyle/>
          <a:p>
            <a:r>
              <a:rPr lang="en-US" dirty="0"/>
              <a:t>Other types of AI nudges</a:t>
            </a:r>
          </a:p>
        </p:txBody>
      </p:sp>
      <p:sp>
        <p:nvSpPr>
          <p:cNvPr id="3" name="Content Placeholder 2">
            <a:extLst>
              <a:ext uri="{FF2B5EF4-FFF2-40B4-BE49-F238E27FC236}">
                <a16:creationId xmlns:a16="http://schemas.microsoft.com/office/drawing/2014/main" id="{804EA40B-34AB-C89D-EEB0-CCCDEE82AAA7}"/>
              </a:ext>
            </a:extLst>
          </p:cNvPr>
          <p:cNvSpPr>
            <a:spLocks noGrp="1"/>
          </p:cNvSpPr>
          <p:nvPr>
            <p:ph idx="1"/>
          </p:nvPr>
        </p:nvSpPr>
        <p:spPr/>
        <p:txBody>
          <a:bodyPr>
            <a:normAutofit/>
          </a:bodyPr>
          <a:lstStyle/>
          <a:p>
            <a:pPr marL="457200" indent="-457200">
              <a:buFont typeface="+mj-lt"/>
              <a:buAutoNum type="arabicPeriod"/>
            </a:pPr>
            <a:r>
              <a:rPr lang="en-US" dirty="0"/>
              <a:t>AI-Driven Dynamic Pricing &amp; Sale Indicators</a:t>
            </a:r>
          </a:p>
          <a:p>
            <a:pPr lvl="1"/>
            <a:r>
              <a:rPr lang="en-US" dirty="0"/>
              <a:t>If the system automatically highlights personalized discounts such as:</a:t>
            </a:r>
          </a:p>
          <a:p>
            <a:pPr lvl="1"/>
            <a:r>
              <a:rPr lang="en-US" dirty="0"/>
              <a:t>“Special price for you”</a:t>
            </a:r>
          </a:p>
          <a:p>
            <a:pPr lvl="1"/>
            <a:r>
              <a:rPr lang="en-US" dirty="0"/>
              <a:t>“Deal recommended based on your purchase patterns”</a:t>
            </a:r>
          </a:p>
          <a:p>
            <a:pPr lvl="1"/>
            <a:r>
              <a:rPr lang="en-US" dirty="0"/>
              <a:t>—these indicators serve as nudges controlled by an opaque algorithm.</a:t>
            </a:r>
          </a:p>
          <a:p>
            <a:pPr lvl="1"/>
            <a:endParaRPr lang="en-US" dirty="0"/>
          </a:p>
          <a:p>
            <a:pPr marL="914400" lvl="1" indent="-457200">
              <a:buFont typeface="+mj-lt"/>
              <a:buAutoNum type="arabicPeriod"/>
            </a:pPr>
            <a:endParaRPr lang="en-US" dirty="0"/>
          </a:p>
          <a:p>
            <a:endParaRPr lang="en-US" dirty="0"/>
          </a:p>
          <a:p>
            <a:pPr lvl="1"/>
            <a:endParaRPr lang="en-US" dirty="0"/>
          </a:p>
        </p:txBody>
      </p:sp>
    </p:spTree>
    <p:extLst>
      <p:ext uri="{BB962C8B-B14F-4D97-AF65-F5344CB8AC3E}">
        <p14:creationId xmlns:p14="http://schemas.microsoft.com/office/powerpoint/2010/main" val="2950856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D80EE-FB3C-42BF-D580-FE2E70D8F5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3EA3BD-FD33-B078-6478-BF15D58ED728}"/>
              </a:ext>
            </a:extLst>
          </p:cNvPr>
          <p:cNvSpPr>
            <a:spLocks noGrp="1"/>
          </p:cNvSpPr>
          <p:nvPr>
            <p:ph type="title"/>
          </p:nvPr>
        </p:nvSpPr>
        <p:spPr/>
        <p:txBody>
          <a:bodyPr/>
          <a:lstStyle/>
          <a:p>
            <a:r>
              <a:rPr lang="en-US" dirty="0"/>
              <a:t>Nudges in conversational chatbot (Rufus AI)</a:t>
            </a:r>
          </a:p>
        </p:txBody>
      </p:sp>
      <p:sp>
        <p:nvSpPr>
          <p:cNvPr id="3" name="Content Placeholder 2">
            <a:extLst>
              <a:ext uri="{FF2B5EF4-FFF2-40B4-BE49-F238E27FC236}">
                <a16:creationId xmlns:a16="http://schemas.microsoft.com/office/drawing/2014/main" id="{03E75466-AE47-F3F8-3456-D896B20C1682}"/>
              </a:ext>
            </a:extLst>
          </p:cNvPr>
          <p:cNvSpPr>
            <a:spLocks noGrp="1"/>
          </p:cNvSpPr>
          <p:nvPr>
            <p:ph idx="1"/>
          </p:nvPr>
        </p:nvSpPr>
        <p:spPr/>
        <p:txBody>
          <a:bodyPr>
            <a:normAutofit fontScale="92500" lnSpcReduction="20000"/>
          </a:bodyPr>
          <a:lstStyle/>
          <a:p>
            <a:pPr marL="514350" indent="-514350">
              <a:buFont typeface="+mj-lt"/>
              <a:buAutoNum type="arabicPeriod"/>
            </a:pPr>
            <a:r>
              <a:rPr lang="en-US" dirty="0"/>
              <a:t>Influence &amp; Behavioral Change</a:t>
            </a:r>
          </a:p>
          <a:p>
            <a:pPr lvl="1"/>
            <a:r>
              <a:rPr lang="en-US" dirty="0"/>
              <a:t>How do conversational recommendations from an LLM shape consumers’ final product choices compared to traditional UI-based nudges (e.g., badges, rankings)?</a:t>
            </a:r>
          </a:p>
          <a:p>
            <a:pPr lvl="1"/>
            <a:r>
              <a:rPr lang="en-US" dirty="0"/>
              <a:t>Does the ordering or framing of responses in a chatbot influence purchase probability more strongly than visual product placement?</a:t>
            </a:r>
          </a:p>
          <a:p>
            <a:pPr lvl="1"/>
            <a:r>
              <a:rPr lang="en-US" dirty="0"/>
              <a:t>Are users more likely to purchase items recommended through natural conversation versus those shown through static recommendation widgets?</a:t>
            </a:r>
          </a:p>
          <a:p>
            <a:pPr marL="514350" indent="-514350">
              <a:buFont typeface="+mj-lt"/>
              <a:buAutoNum type="arabicPeriod"/>
            </a:pPr>
            <a:r>
              <a:rPr lang="en-US" dirty="0"/>
              <a:t>Choice Architecture &amp; Cognitive Load</a:t>
            </a:r>
          </a:p>
          <a:p>
            <a:pPr lvl="1"/>
            <a:r>
              <a:rPr lang="en-US" dirty="0"/>
              <a:t>Does conversational comparison (LLM-generated) reduce choice overload more effectively than traditional comparison tables?</a:t>
            </a:r>
          </a:p>
          <a:p>
            <a:pPr lvl="1"/>
            <a:r>
              <a:rPr lang="en-US" dirty="0"/>
              <a:t>How does cognitive load change when decisions are supported by AI conversational guidance versus self-driven search?</a:t>
            </a:r>
          </a:p>
          <a:p>
            <a:pPr lvl="1"/>
            <a:r>
              <a:rPr lang="en-US" dirty="0"/>
              <a:t>Do LLM-structured “recommended paths” (e.g., step-by-step shopping guidance) bias choices toward more expensive or more convenient products?</a:t>
            </a:r>
          </a:p>
          <a:p>
            <a:endParaRPr lang="en-US" dirty="0"/>
          </a:p>
          <a:p>
            <a:pPr lvl="1"/>
            <a:endParaRPr lang="en-US" dirty="0"/>
          </a:p>
        </p:txBody>
      </p:sp>
    </p:spTree>
    <p:extLst>
      <p:ext uri="{BB962C8B-B14F-4D97-AF65-F5344CB8AC3E}">
        <p14:creationId xmlns:p14="http://schemas.microsoft.com/office/powerpoint/2010/main" val="27681106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602DD0-569A-7600-BF87-CFB2852A1E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640099-8703-E2D3-9F8D-392ED2B7C1F7}"/>
              </a:ext>
            </a:extLst>
          </p:cNvPr>
          <p:cNvSpPr>
            <a:spLocks noGrp="1"/>
          </p:cNvSpPr>
          <p:nvPr>
            <p:ph type="title"/>
          </p:nvPr>
        </p:nvSpPr>
        <p:spPr/>
        <p:txBody>
          <a:bodyPr/>
          <a:lstStyle/>
          <a:p>
            <a:r>
              <a:rPr lang="en-US" dirty="0"/>
              <a:t>Nudges in conversational chatbot (Rufus AI)</a:t>
            </a:r>
          </a:p>
        </p:txBody>
      </p:sp>
      <p:sp>
        <p:nvSpPr>
          <p:cNvPr id="3" name="Content Placeholder 2">
            <a:extLst>
              <a:ext uri="{FF2B5EF4-FFF2-40B4-BE49-F238E27FC236}">
                <a16:creationId xmlns:a16="http://schemas.microsoft.com/office/drawing/2014/main" id="{14D9BF46-2E9D-DD4F-05B4-FBB9C773206C}"/>
              </a:ext>
            </a:extLst>
          </p:cNvPr>
          <p:cNvSpPr>
            <a:spLocks noGrp="1"/>
          </p:cNvSpPr>
          <p:nvPr>
            <p:ph idx="1"/>
          </p:nvPr>
        </p:nvSpPr>
        <p:spPr/>
        <p:txBody>
          <a:bodyPr>
            <a:normAutofit fontScale="92500" lnSpcReduction="20000"/>
          </a:bodyPr>
          <a:lstStyle/>
          <a:p>
            <a:pPr marL="514350" indent="-514350">
              <a:buFont typeface="+mj-lt"/>
              <a:buAutoNum type="arabicPeriod"/>
            </a:pPr>
            <a:r>
              <a:rPr lang="en-US" dirty="0"/>
              <a:t>Emotion, Mood, and Timing</a:t>
            </a:r>
          </a:p>
          <a:p>
            <a:pPr lvl="1"/>
            <a:r>
              <a:rPr lang="en-US" dirty="0"/>
              <a:t>How do mood-sensitive nudges (e.g., empathetic suggestions when the user sounds frustrated) affect willingness to buy?</a:t>
            </a:r>
          </a:p>
          <a:p>
            <a:pPr lvl="1"/>
            <a:r>
              <a:rPr lang="en-US" dirty="0"/>
              <a:t>Does timing of a chatbot’s suggestion (early vs. late in conversation) influence purchase behavior?</a:t>
            </a:r>
          </a:p>
          <a:p>
            <a:pPr lvl="1"/>
            <a:r>
              <a:rPr lang="en-US" dirty="0"/>
              <a:t>Can LLMs detect hesitation signals (slow response, repeated browsing) and use predictive nudges to close the sale?</a:t>
            </a:r>
          </a:p>
          <a:p>
            <a:pPr marL="514350" indent="-514350">
              <a:buFont typeface="+mj-lt"/>
              <a:buAutoNum type="arabicPeriod"/>
            </a:pPr>
            <a:r>
              <a:rPr lang="en-US" dirty="0"/>
              <a:t>Choice Architecture &amp; Cognitive Load</a:t>
            </a:r>
          </a:p>
          <a:p>
            <a:pPr lvl="1"/>
            <a:r>
              <a:rPr lang="en-US" dirty="0"/>
              <a:t>Does conversational comparison (LLM-generated) reduce choice overload more effectively than traditional comparison tables?</a:t>
            </a:r>
          </a:p>
          <a:p>
            <a:pPr lvl="1"/>
            <a:r>
              <a:rPr lang="en-US" dirty="0"/>
              <a:t>How does cognitive load change when decisions are supported by AI conversational guidance versus self-driven search?</a:t>
            </a:r>
          </a:p>
          <a:p>
            <a:pPr lvl="1"/>
            <a:r>
              <a:rPr lang="en-US" dirty="0"/>
              <a:t>Do LLM-structured “recommended paths” (e.g., step-by-step shopping guidance) bias choices toward more expensive or more convenient products?</a:t>
            </a:r>
          </a:p>
          <a:p>
            <a:endParaRPr lang="en-US" dirty="0"/>
          </a:p>
          <a:p>
            <a:pPr lvl="1"/>
            <a:endParaRPr lang="en-US" dirty="0"/>
          </a:p>
        </p:txBody>
      </p:sp>
    </p:spTree>
    <p:extLst>
      <p:ext uri="{BB962C8B-B14F-4D97-AF65-F5344CB8AC3E}">
        <p14:creationId xmlns:p14="http://schemas.microsoft.com/office/powerpoint/2010/main" val="29841355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2F651-3BB6-CE8E-B63A-A57063570AE7}"/>
              </a:ext>
            </a:extLst>
          </p:cNvPr>
          <p:cNvSpPr>
            <a:spLocks noGrp="1"/>
          </p:cNvSpPr>
          <p:nvPr>
            <p:ph type="title"/>
          </p:nvPr>
        </p:nvSpPr>
        <p:spPr/>
        <p:txBody>
          <a:bodyPr/>
          <a:lstStyle/>
          <a:p>
            <a:r>
              <a:rPr lang="en-US" dirty="0"/>
              <a:t>More </a:t>
            </a:r>
            <a:r>
              <a:rPr lang="en-US"/>
              <a:t>broadly speaking,</a:t>
            </a:r>
          </a:p>
        </p:txBody>
      </p:sp>
      <p:sp>
        <p:nvSpPr>
          <p:cNvPr id="3" name="Content Placeholder 2">
            <a:extLst>
              <a:ext uri="{FF2B5EF4-FFF2-40B4-BE49-F238E27FC236}">
                <a16:creationId xmlns:a16="http://schemas.microsoft.com/office/drawing/2014/main" id="{3356E7BF-418B-F82F-8FB7-77D4E68B5F11}"/>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1213810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110</TotalTime>
  <Words>1109</Words>
  <Application>Microsoft Office PowerPoint</Application>
  <PresentationFormat>Widescreen</PresentationFormat>
  <Paragraphs>65</Paragraphs>
  <Slides>10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Aptos Display</vt:lpstr>
      <vt:lpstr>Arial</vt:lpstr>
      <vt:lpstr>Garamond</vt:lpstr>
      <vt:lpstr>Office Theme</vt:lpstr>
      <vt:lpstr>Talking Shoppers Into Buying? Experimental Evidence on LLM-Driven AI Nudges</vt:lpstr>
      <vt:lpstr>Titles</vt:lpstr>
      <vt:lpstr>Abstract</vt:lpstr>
      <vt:lpstr>Short Abstract</vt:lpstr>
      <vt:lpstr>Definition of AI nudges</vt:lpstr>
      <vt:lpstr>Other types of AI nudges</vt:lpstr>
      <vt:lpstr>Other types of AI nudges</vt:lpstr>
      <vt:lpstr>Nudges in conversational chatbot (Rufus AI)</vt:lpstr>
      <vt:lpstr>Nudges in conversational chatbot (Rufus AI)</vt:lpstr>
      <vt:lpstr>More broadly speaking,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Luo, Yuxiao</dc:creator>
  <cp:lastModifiedBy>Luo, Yuxiao</cp:lastModifiedBy>
  <cp:revision>34</cp:revision>
  <dcterms:created xsi:type="dcterms:W3CDTF">2025-11-15T15:11:47Z</dcterms:created>
  <dcterms:modified xsi:type="dcterms:W3CDTF">2025-11-16T01:22:49Z</dcterms:modified>
</cp:coreProperties>
</file>